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package/2006/relationships/metadata/extended-properties" Target="docProps/app0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59" r:id="rId6"/>
    <p:sldId id="260" r:id="rId7"/>
    <p:sldId id="266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19" d="100"/>
          <a:sy n="119" d="100"/>
        </p:scale>
        <p:origin x="418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2:07.5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0,'1129'0'0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2:19.875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0,'1190'0,"-1163"2,0 1,48 11,-47-8,0-1,37 2,-47-7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2:50.421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0,'1217'0'0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3:22.353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 0,'1307'0'0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3:38.148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0,'1077'0'0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3:42.743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1,'548'0,"-533"0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3:44.759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0,'3'0,"4"0,3 0,4 0,2 0,2 0,0 0,0 0,0 0,1 0,-1 0,0 0,0 0,-1 0,-2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3:47.001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1,'3'0,"1"3,6 1,4 0,3-1,1-1,1-1,0 0,3-1,1 0,-1 0,-1 0,-1 0,-1 0,-1 0,0-1,-4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00.67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36,'844'0,"-815"-1,-1-2,47-11,-47 8,0 1,52-2,-45 8,-20-1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01.7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28,'284'-13,"-151"11,0-1,-105-3,-18 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4:06.16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1 106 0,'1552'-105'0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08.7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72,'131'-9,"-17"1,265-19,79 0,-135 27,-305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4:24.346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0,'1429'0'0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32.62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35,'47'0,"472"-13,-95-9,-41 22,-365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33.94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72,'116'-3,"-1"-5,157-32,-158 21,-92 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4:54:35.9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19,'170'-9,"-18"1,618 6,-397 4,-356-2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54:38.6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0,'1340'34'0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7:19:15.212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0,'2382'0,"-2367"0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29T15:44:59.368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20,'124'2,"134"-4,-188-7,-43 5,35-1,1695 4,-835 3,-903-2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8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customXml" Target="../ink/ink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820341"/>
            <a:ext cx="7879841" cy="2225406"/>
          </a:xfrm>
        </p:spPr>
        <p:txBody>
          <a:bodyPr>
            <a:normAutofit/>
          </a:bodyPr>
          <a:lstStyle/>
          <a:p>
            <a:pPr lvl="0" algn="l"/>
            <a:r>
              <a:rPr lang="en-US" sz="4400" dirty="0">
                <a:solidFill>
                  <a:schemeClr val="tx2"/>
                </a:solidFill>
              </a:rPr>
              <a:t>PCA and Factor Analysis of Workload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50693" y="3464718"/>
            <a:ext cx="2960084" cy="778668"/>
          </a:xfrm>
        </p:spPr>
        <p:txBody>
          <a:bodyPr>
            <a:normAutofit/>
          </a:bodyPr>
          <a:lstStyle/>
          <a:p>
            <a:pPr marL="0" lvl="0" indent="0" algn="r">
              <a:lnSpc>
                <a:spcPct val="90000"/>
              </a:lnSpc>
              <a:buNone/>
            </a:pPr>
            <a:br>
              <a:rPr lang="en-US" sz="1500"/>
            </a:br>
            <a:br>
              <a:rPr lang="en-US" sz="1500"/>
            </a:br>
            <a:endParaRPr lang="en-US" sz="15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3248374"/>
            <a:ext cx="7879842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10162" y="1761629"/>
            <a:ext cx="41148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C355A-EBC3-C2ED-A121-86C03F53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882B27-91E9-86CC-7162-B26C7E9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30572F-9D62-61BA-A1CD-9C5F8DA72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DF31671-4D77-9189-0936-AF838D9AF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E29412-356A-B589-9525-2D87E876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Workload variables Overview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C469C3-3662-5834-BFA3-686B370C0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A3182E-F33E-F131-62D6-9EEE9E4EA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416" y="2775933"/>
            <a:ext cx="4923588" cy="963714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67EA8DD-D352-2524-4BAA-551E85E5F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4616" y="796311"/>
            <a:ext cx="4923588" cy="137546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6 qualitative WL variables.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Each of them presented by 7 Likert scales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WL variables are overlapped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They are moderately to strongly correlated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BD7F3F1-9ABD-3E3B-A2C2-63A07F43B0DB}"/>
                  </a:ext>
                </a:extLst>
              </p14:cNvPr>
              <p14:cNvContentPartPr/>
              <p14:nvPr/>
            </p14:nvContentPartPr>
            <p14:xfrm>
              <a:off x="4838690" y="3257070"/>
              <a:ext cx="406440" cy="7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BD7F3F1-9ABD-3E3B-A2C2-63A07F43B0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2690" y="3113790"/>
                <a:ext cx="478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8188AD-ABE8-7915-866C-3848E98AD96E}"/>
                  </a:ext>
                </a:extLst>
              </p14:cNvPr>
              <p14:cNvContentPartPr/>
              <p14:nvPr/>
            </p14:nvContentPartPr>
            <p14:xfrm>
              <a:off x="5397050" y="3498630"/>
              <a:ext cx="525240" cy="136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8188AD-ABE8-7915-866C-3848E98AD9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61410" y="3426630"/>
                <a:ext cx="5968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20FEE45-B96D-619A-2EC4-60C29DE83034}"/>
                  </a:ext>
                </a:extLst>
              </p14:cNvPr>
              <p14:cNvContentPartPr/>
              <p14:nvPr/>
            </p14:nvContentPartPr>
            <p14:xfrm>
              <a:off x="7549850" y="3657390"/>
              <a:ext cx="43848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20FEE45-B96D-619A-2EC4-60C29DE8303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13850" y="3585390"/>
                <a:ext cx="510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BBE4D97-3B29-1347-A4F3-03D4B6204CE5}"/>
                  </a:ext>
                </a:extLst>
              </p14:cNvPr>
              <p14:cNvContentPartPr/>
              <p14:nvPr/>
            </p14:nvContentPartPr>
            <p14:xfrm>
              <a:off x="4825730" y="3257070"/>
              <a:ext cx="470880" cy="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BBE4D97-3B29-1347-A4F3-03D4B6204CE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89730" y="3113070"/>
                <a:ext cx="542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7FAD6BE-EA14-A94D-3DEF-A50FFDD11ABB}"/>
                  </a:ext>
                </a:extLst>
              </p14:cNvPr>
              <p14:cNvContentPartPr/>
              <p14:nvPr/>
            </p14:nvContentPartPr>
            <p14:xfrm>
              <a:off x="6159170" y="3670350"/>
              <a:ext cx="38808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7FAD6BE-EA14-A94D-3DEF-A50FFDD11AB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23170" y="3598350"/>
                <a:ext cx="4597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C9FC042-44DB-EC92-AF85-62CE4BFAA179}"/>
                  </a:ext>
                </a:extLst>
              </p14:cNvPr>
              <p14:cNvContentPartPr/>
              <p14:nvPr/>
            </p14:nvContentPartPr>
            <p14:xfrm>
              <a:off x="6013370" y="3676470"/>
              <a:ext cx="20304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C9FC042-44DB-EC92-AF85-62CE4BFAA1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77730" y="3604830"/>
                <a:ext cx="274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5006065-338C-9B0C-1940-D548ADF1CAEF}"/>
                  </a:ext>
                </a:extLst>
              </p14:cNvPr>
              <p14:cNvContentPartPr/>
              <p14:nvPr/>
            </p14:nvContentPartPr>
            <p14:xfrm>
              <a:off x="5340170" y="3498630"/>
              <a:ext cx="8208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5006065-338C-9B0C-1940-D548ADF1CAE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304530" y="3426630"/>
                <a:ext cx="1537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D697C37-3D60-03DD-49BD-2535ACA977A4}"/>
                  </a:ext>
                </a:extLst>
              </p14:cNvPr>
              <p14:cNvContentPartPr/>
              <p14:nvPr/>
            </p14:nvContentPartPr>
            <p14:xfrm>
              <a:off x="4730690" y="3250950"/>
              <a:ext cx="101520" cy="68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D697C37-3D60-03DD-49BD-2535ACA977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94690" y="3179310"/>
                <a:ext cx="173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BE3B2DE-353B-5E8D-64AD-1CE3BC967661}"/>
                  </a:ext>
                </a:extLst>
              </p14:cNvPr>
              <p14:cNvContentPartPr/>
              <p14:nvPr/>
            </p14:nvContentPartPr>
            <p14:xfrm>
              <a:off x="4832210" y="3092190"/>
              <a:ext cx="418680" cy="133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BE3B2DE-353B-5E8D-64AD-1CE3BC96766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96570" y="3020190"/>
                <a:ext cx="49032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9D17746-A42B-205E-B3F7-6F94F6926323}"/>
                  </a:ext>
                </a:extLst>
              </p14:cNvPr>
              <p14:cNvContentPartPr/>
              <p14:nvPr/>
            </p14:nvContentPartPr>
            <p14:xfrm>
              <a:off x="4705130" y="3069510"/>
              <a:ext cx="212040" cy="10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9D17746-A42B-205E-B3F7-6F94F692632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69130" y="2997510"/>
                <a:ext cx="283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AEF96C8-9AEC-B0D7-8F2C-D7CE22D7125A}"/>
                  </a:ext>
                </a:extLst>
              </p14:cNvPr>
              <p14:cNvContentPartPr/>
              <p14:nvPr/>
            </p14:nvContentPartPr>
            <p14:xfrm>
              <a:off x="4711250" y="3492150"/>
              <a:ext cx="559440" cy="38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AEF96C8-9AEC-B0D7-8F2C-D7CE22D7125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675610" y="3420510"/>
                <a:ext cx="6310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EE3BD31-AD2F-D126-585E-A9F14F87EE2B}"/>
                  </a:ext>
                </a:extLst>
              </p14:cNvPr>
              <p14:cNvContentPartPr/>
              <p14:nvPr/>
            </p14:nvContentPartPr>
            <p14:xfrm>
              <a:off x="4730690" y="3695190"/>
              <a:ext cx="512640" cy="259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EE3BD31-AD2F-D126-585E-A9F14F87EE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694690" y="3623550"/>
                <a:ext cx="5842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7ED8A2F-A67D-5BE5-8409-AC25E5257D8A}"/>
                  </a:ext>
                </a:extLst>
              </p14:cNvPr>
              <p14:cNvContentPartPr/>
              <p14:nvPr/>
            </p14:nvContentPartPr>
            <p14:xfrm>
              <a:off x="5378330" y="3663870"/>
              <a:ext cx="514440" cy="7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7ED8A2F-A67D-5BE5-8409-AC25E5257D8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42330" y="3519870"/>
                <a:ext cx="586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E8F9871-4CEA-E901-4744-70391166BC36}"/>
                  </a:ext>
                </a:extLst>
              </p14:cNvPr>
              <p14:cNvContentPartPr/>
              <p14:nvPr/>
            </p14:nvContentPartPr>
            <p14:xfrm>
              <a:off x="6140450" y="3473430"/>
              <a:ext cx="500760" cy="129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E8F9871-4CEA-E901-4744-70391166BC3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04450" y="3401430"/>
                <a:ext cx="57240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DD62CF-8C73-D0BF-2A63-F2BB32FC6B19}"/>
                  </a:ext>
                </a:extLst>
              </p14:cNvPr>
              <p14:cNvContentPartPr/>
              <p14:nvPr/>
            </p14:nvContentPartPr>
            <p14:xfrm>
              <a:off x="6006890" y="3460110"/>
              <a:ext cx="230400" cy="262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DD62CF-8C73-D0BF-2A63-F2BB32FC6B1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970890" y="3388110"/>
                <a:ext cx="30204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09FF718-4102-4684-21F3-874E8D8A3385}"/>
                  </a:ext>
                </a:extLst>
              </p14:cNvPr>
              <p14:cNvContentPartPr/>
              <p14:nvPr/>
            </p14:nvContentPartPr>
            <p14:xfrm>
              <a:off x="5429090" y="3231510"/>
              <a:ext cx="533520" cy="7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09FF718-4102-4684-21F3-874E8D8A338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393090" y="3159510"/>
                <a:ext cx="6051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71382F7-9BFE-B9FC-9800-267A2CF1EFBC}"/>
                  </a:ext>
                </a:extLst>
              </p14:cNvPr>
              <p14:cNvContentPartPr/>
              <p14:nvPr/>
            </p14:nvContentPartPr>
            <p14:xfrm>
              <a:off x="6857930" y="3670350"/>
              <a:ext cx="482760" cy="126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71382F7-9BFE-B9FC-9800-267A2CF1EFB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821930" y="3598350"/>
                <a:ext cx="554400" cy="15624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7C21FD30-0915-56E7-3568-04D5B59E2729}"/>
              </a:ext>
            </a:extLst>
          </p:cNvPr>
          <p:cNvSpPr txBox="1"/>
          <p:nvPr/>
        </p:nvSpPr>
        <p:spPr>
          <a:xfrm>
            <a:off x="3720678" y="2392662"/>
            <a:ext cx="191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96834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4ED31-210A-048E-5195-A7C04B15D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7A30BE-AD70-18B0-FAC9-1CEACD25B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C46D29C3-2558-98DC-E49E-E462DD806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FBC07C4-6034-D1BC-DB48-ED7CA59CD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19F9C-E39E-47F5-2BCA-6776F997C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Two challenges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C4E328-F7E0-D379-F8B3-3303961C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55F36-4424-CBC2-8A7F-4D91A805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4952" y="1272370"/>
            <a:ext cx="3762273" cy="68093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Hard for ML models to predict 7 scales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D96AB-1C48-01DD-983A-32B5A74A6575}"/>
              </a:ext>
            </a:extLst>
          </p:cNvPr>
          <p:cNvSpPr txBox="1"/>
          <p:nvPr/>
        </p:nvSpPr>
        <p:spPr>
          <a:xfrm>
            <a:off x="3900657" y="1069596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7 Likert scale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26B0B-22E7-8948-4A1E-9E671C852782}"/>
              </a:ext>
            </a:extLst>
          </p:cNvPr>
          <p:cNvSpPr txBox="1"/>
          <p:nvPr/>
        </p:nvSpPr>
        <p:spPr>
          <a:xfrm>
            <a:off x="3900657" y="1953308"/>
            <a:ext cx="2918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Overlapping WL variables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DBF75A-5261-9178-3806-DAC8D92FC91F}"/>
              </a:ext>
            </a:extLst>
          </p:cNvPr>
          <p:cNvSpPr txBox="1">
            <a:spLocks/>
          </p:cNvSpPr>
          <p:nvPr/>
        </p:nvSpPr>
        <p:spPr>
          <a:xfrm>
            <a:off x="4074952" y="2393336"/>
            <a:ext cx="4174284" cy="896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Correlations create redundancy (“double-counting”)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Model instability / multicollinearity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Difficulty in interpretation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Noise amplification</a:t>
            </a:r>
          </a:p>
        </p:txBody>
      </p:sp>
    </p:spTree>
    <p:extLst>
      <p:ext uri="{BB962C8B-B14F-4D97-AF65-F5344CB8AC3E}">
        <p14:creationId xmlns:p14="http://schemas.microsoft.com/office/powerpoint/2010/main" val="2503773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39363E-6748-D148-7500-88F5701D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90C457-E7D6-E931-2097-B938E7854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113AECBC-0662-F269-2D06-AD26A50A5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9B7C78AD-33F9-5776-53B6-2E5968D11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B7CD96-E643-170D-02A4-D432E5554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Solution</a:t>
            </a:r>
            <a:br>
              <a:rPr lang="en-US" sz="32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42ECDE-5000-3D51-D087-F77CF7856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57B86-2039-76F0-1631-9FF153A8B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5075" y="1470281"/>
            <a:ext cx="5049150" cy="1602777"/>
          </a:xfrm>
        </p:spPr>
        <p:txBody>
          <a:bodyPr anchor="ctr"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PCA or Factor Analysis reduces the correlated variables into smaller number of </a:t>
            </a:r>
            <a:r>
              <a:rPr lang="en-US" sz="1400" b="1" dirty="0">
                <a:solidFill>
                  <a:schemeClr val="tx2"/>
                </a:solidFill>
              </a:rPr>
              <a:t>underlying dimensions </a:t>
            </a:r>
            <a:r>
              <a:rPr lang="en-US" sz="1400" dirty="0">
                <a:solidFill>
                  <a:schemeClr val="tx2"/>
                </a:solidFill>
              </a:rPr>
              <a:t>(components/factors)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These new dimensions:</a:t>
            </a:r>
          </a:p>
          <a:p>
            <a:pPr lvl="1"/>
            <a:r>
              <a:rPr lang="en-US" sz="1100" dirty="0">
                <a:solidFill>
                  <a:schemeClr val="tx2"/>
                </a:solidFill>
              </a:rPr>
              <a:t>Capture the </a:t>
            </a:r>
            <a:r>
              <a:rPr lang="en-US" sz="1100" b="1" dirty="0">
                <a:solidFill>
                  <a:schemeClr val="tx2"/>
                </a:solidFill>
              </a:rPr>
              <a:t>major patterns of variation</a:t>
            </a:r>
            <a:r>
              <a:rPr lang="en-US" sz="1100" dirty="0">
                <a:solidFill>
                  <a:schemeClr val="tx2"/>
                </a:solidFill>
              </a:rPr>
              <a:t> in the workload measures.</a:t>
            </a:r>
          </a:p>
          <a:p>
            <a:pPr lvl="1"/>
            <a:r>
              <a:rPr lang="en-US" sz="1100" dirty="0">
                <a:solidFill>
                  <a:schemeClr val="tx2"/>
                </a:solidFill>
              </a:rPr>
              <a:t>Remove noise and redundancy.</a:t>
            </a:r>
          </a:p>
          <a:p>
            <a:pPr lvl="1"/>
            <a:r>
              <a:rPr lang="en-US" sz="1100" dirty="0">
                <a:solidFill>
                  <a:schemeClr val="tx2"/>
                </a:solidFill>
              </a:rPr>
              <a:t>Make the data more stable and suitable for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93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PCAs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0557" y="3453861"/>
            <a:ext cx="4727099" cy="1275781"/>
          </a:xfrm>
        </p:spPr>
        <p:txBody>
          <a:bodyPr anchor="ctr"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	Summary</a:t>
            </a:r>
          </a:p>
          <a:p>
            <a:pPr marL="0" lvl="0" indent="0"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Workload dimensions cluster into 3 PCs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PC1 → </a:t>
            </a:r>
            <a:r>
              <a:rPr lang="en-US" sz="1500" b="1" dirty="0">
                <a:solidFill>
                  <a:schemeClr val="tx2"/>
                </a:solidFill>
              </a:rPr>
              <a:t>Overall workload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PC2 → P</a:t>
            </a:r>
            <a:r>
              <a:rPr lang="en-US" sz="1500" b="1" dirty="0">
                <a:solidFill>
                  <a:schemeClr val="tx2"/>
                </a:solidFill>
              </a:rPr>
              <a:t>hysical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b="1" dirty="0">
                <a:solidFill>
                  <a:schemeClr val="tx2"/>
                </a:solidFill>
              </a:rPr>
              <a:t>vs.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b="1" dirty="0">
                <a:solidFill>
                  <a:schemeClr val="tx2"/>
                </a:solidFill>
              </a:rPr>
              <a:t>performance </a:t>
            </a:r>
            <a:r>
              <a:rPr lang="en-US" sz="1500" dirty="0">
                <a:solidFill>
                  <a:schemeClr val="tx2"/>
                </a:solidFill>
              </a:rPr>
              <a:t>trade-off</a:t>
            </a:r>
          </a:p>
          <a:p>
            <a:pPr lvl="1"/>
            <a:r>
              <a:rPr lang="en-US" sz="1500" dirty="0">
                <a:solidFill>
                  <a:schemeClr val="tx2"/>
                </a:solidFill>
              </a:rPr>
              <a:t>PC3 → </a:t>
            </a:r>
            <a:r>
              <a:rPr lang="en-US" sz="1500" b="1" dirty="0">
                <a:solidFill>
                  <a:schemeClr val="tx2"/>
                </a:solidFill>
              </a:rPr>
              <a:t>Mental vs. performance</a:t>
            </a:r>
            <a:r>
              <a:rPr lang="en-US" sz="1500" dirty="0">
                <a:solidFill>
                  <a:schemeClr val="tx2"/>
                </a:solidFill>
              </a:rPr>
              <a:t> trade-off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96677-F036-1856-D127-BF659001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356" y="188936"/>
            <a:ext cx="3731691" cy="2014617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4E1141-82C7-2E55-0293-76D34088F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357" y="2454953"/>
            <a:ext cx="3135526" cy="724022"/>
          </a:xfrm>
          <a:prstGeom prst="rect">
            <a:avLst/>
          </a:prstGeom>
          <a:effectLst>
            <a:glow rad="127000">
              <a:schemeClr val="bg1">
                <a:lumMod val="85000"/>
              </a:schemeClr>
            </a:glo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0043DB-B7C3-A94E-477E-E699F9684A5E}"/>
                  </a:ext>
                </a:extLst>
              </p14:cNvPr>
              <p14:cNvContentPartPr/>
              <p14:nvPr/>
            </p14:nvContentPartPr>
            <p14:xfrm>
              <a:off x="5302010" y="3066990"/>
              <a:ext cx="86328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0043DB-B7C3-A94E-477E-E699F9684A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66370" y="2994990"/>
                <a:ext cx="934920" cy="14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6DFB507-A35C-45A4-A4B1-88B692EB6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1407B0-5659-48D2-B8DE-DF83D5749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329145"/>
            <a:ext cx="8375586" cy="4314576"/>
          </a:xfrm>
          <a:prstGeom prst="rect">
            <a:avLst/>
          </a:prstGeom>
          <a:ln w="12700">
            <a:solidFill>
              <a:srgbClr val="D5D5D5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D22E60-9194-4252-8812-A1355DB6E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3048" y="2040662"/>
            <a:ext cx="111215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4B8FBE-7F64-8619-2773-F5515547A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97" y="788515"/>
            <a:ext cx="5608806" cy="35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14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53E8E-E421-DCD8-FA14-DD4B22F5D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DB7AB8-9C28-6F46-79D0-6F7AF503F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7A903026-4443-30F9-C2BB-4CB52A68C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51435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4261F65-E04D-7C94-05C3-50C9A8882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51435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205993-D6A8-113A-0D39-A858C0CD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870966"/>
            <a:ext cx="2702052" cy="339471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3000" dirty="0">
                <a:solidFill>
                  <a:schemeClr val="tx2"/>
                </a:solidFill>
              </a:rPr>
              <a:t>Factor Analysis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36B5C7-CB69-5ADB-C4B5-826A4CA46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26536"/>
            <a:ext cx="96012" cy="4904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9F5F-7B14-5519-9643-F7D07CE1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521" y="2816965"/>
            <a:ext cx="3530997" cy="1073536"/>
          </a:xfrm>
        </p:spPr>
        <p:txBody>
          <a:bodyPr anchor="ctr">
            <a:normAutofit fontScale="70000" lnSpcReduction="20000"/>
          </a:bodyPr>
          <a:lstStyle/>
          <a:p>
            <a:pPr marL="0" lv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	</a:t>
            </a:r>
            <a:r>
              <a:rPr lang="en-US" sz="2600" b="1" dirty="0">
                <a:solidFill>
                  <a:schemeClr val="tx2"/>
                </a:solidFill>
              </a:rPr>
              <a:t>Summary</a:t>
            </a:r>
          </a:p>
          <a:p>
            <a:pPr marL="0" lvl="0" indent="0">
              <a:buNone/>
            </a:pPr>
            <a:endParaRPr lang="en-US" sz="1500" dirty="0">
              <a:solidFill>
                <a:schemeClr val="tx2"/>
              </a:solidFill>
            </a:endParaRP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ML2 (Factor 1): physical &amp; temporal demand factor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ML1 (Factor 2): effort &amp; mental workload factor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ML3 (Factor 3): frustration &amp; performance factor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987C5-2B22-BF5A-A139-DEDC0C28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491" y="780333"/>
            <a:ext cx="2972651" cy="1960438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D5F0504-5922-622B-6564-11D1458C2435}"/>
              </a:ext>
            </a:extLst>
          </p:cNvPr>
          <p:cNvSpPr txBox="1">
            <a:spLocks/>
          </p:cNvSpPr>
          <p:nvPr/>
        </p:nvSpPr>
        <p:spPr>
          <a:xfrm>
            <a:off x="3756897" y="4042886"/>
            <a:ext cx="2914360" cy="843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	</a:t>
            </a:r>
            <a:r>
              <a:rPr lang="en-US" sz="1000" dirty="0">
                <a:solidFill>
                  <a:schemeClr val="tx2"/>
                </a:solidFill>
              </a:rPr>
              <a:t> Communalities (h2)</a:t>
            </a:r>
          </a:p>
          <a:p>
            <a:pPr lvl="1"/>
            <a:r>
              <a:rPr lang="en-US" sz="1000" dirty="0">
                <a:solidFill>
                  <a:schemeClr val="tx2"/>
                </a:solidFill>
              </a:rPr>
              <a:t>Moderate to high</a:t>
            </a:r>
          </a:p>
          <a:p>
            <a:pPr lvl="1"/>
            <a:r>
              <a:rPr lang="en-US" sz="1000" dirty="0">
                <a:solidFill>
                  <a:schemeClr val="tx2"/>
                </a:solidFill>
              </a:rPr>
              <a:t>Most factors explain much of each item’s variation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5BA03D8-3A82-6DF7-6509-CE1AD405CBBE}"/>
              </a:ext>
            </a:extLst>
          </p:cNvPr>
          <p:cNvSpPr txBox="1">
            <a:spLocks/>
          </p:cNvSpPr>
          <p:nvPr/>
        </p:nvSpPr>
        <p:spPr>
          <a:xfrm>
            <a:off x="6192871" y="3966693"/>
            <a:ext cx="2914360" cy="843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	</a:t>
            </a:r>
            <a:r>
              <a:rPr lang="en-US" sz="1000" dirty="0">
                <a:solidFill>
                  <a:schemeClr val="tx2"/>
                </a:solidFill>
              </a:rPr>
              <a:t> Variance explained</a:t>
            </a:r>
          </a:p>
          <a:p>
            <a:pPr lvl="1"/>
            <a:r>
              <a:rPr lang="en-US" sz="1000" dirty="0">
                <a:solidFill>
                  <a:schemeClr val="tx2"/>
                </a:solidFill>
              </a:rPr>
              <a:t>ML2 (23%) + ML1 (23%) + ML3 (17%) = ~63%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5D457FB-89DB-C9DD-87C8-655F37C97DCA}"/>
                  </a:ext>
                </a:extLst>
              </p14:cNvPr>
              <p14:cNvContentPartPr/>
              <p14:nvPr/>
            </p14:nvContentPartPr>
            <p14:xfrm>
              <a:off x="5460770" y="2304150"/>
              <a:ext cx="1166400" cy="79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5D457FB-89DB-C9DD-87C8-655F37C97D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25130" y="2232510"/>
                <a:ext cx="1238040" cy="15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145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90794cc-8ced-4156-9787-a1fbf819c752}" enabled="1" method="Standard" siteId="{a25fff9c-3f63-4fb2-9a8a-d9bdd0321f9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223</Words>
  <Application>Microsoft Office PowerPoint</Application>
  <PresentationFormat>On-screen Show (16:9)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PCA and Factor Analysis of Workload variables</vt:lpstr>
      <vt:lpstr>Workload variables Overview  </vt:lpstr>
      <vt:lpstr>Two challenges  </vt:lpstr>
      <vt:lpstr>Solution  </vt:lpstr>
      <vt:lpstr>PCAs</vt:lpstr>
      <vt:lpstr>PowerPoint Presentation</vt:lpstr>
      <vt:lpstr>Factor Analysis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 result</dc:title>
  <dc:creator/>
  <cp:keywords/>
  <cp:lastModifiedBy>Md Mohiuddin Adnan</cp:lastModifiedBy>
  <cp:revision>24</cp:revision>
  <dcterms:created xsi:type="dcterms:W3CDTF">2025-08-26T09:02:59Z</dcterms:created>
  <dcterms:modified xsi:type="dcterms:W3CDTF">2025-09-29T17:32:49Z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