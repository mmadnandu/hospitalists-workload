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7" r:id="rId4"/>
    <p:sldId id="258" r:id="rId5"/>
    <p:sldId id="266" r:id="rId6"/>
    <p:sldId id="268" r:id="rId7"/>
    <p:sldId id="269" r:id="rId8"/>
    <p:sldId id="263" r:id="rId9"/>
    <p:sldId id="262" r:id="rId10"/>
    <p:sldId id="259" r:id="rId11"/>
    <p:sldId id="260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78" d="100"/>
          <a:sy n="78" d="100"/>
        </p:scale>
        <p:origin x="940" y="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9:35:28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89 24575,'214'-13'0,"-206"13"0,231-33 0,-173 22 0,121-5 0,69 16 0,-103 2 0,316-2 0,-441-1 0,38-7 0,-37 4 0,39-1 0,-51 5-1365,-2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9:35:32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24575,'1709'0'-1365,"-1690"0"-5461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9:35:46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24575,'1482'0'-1365,"-1467"0"-5461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9:35:54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24575,'324'2'0,"350"-4"0,-273-16 0,-375 15 54,48-12 0,-52 10-545,1 0 0,39-2 0,-48 7-6335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820341"/>
            <a:ext cx="7879841" cy="2225406"/>
          </a:xfrm>
        </p:spPr>
        <p:txBody>
          <a:bodyPr>
            <a:normAutofit/>
          </a:bodyPr>
          <a:lstStyle/>
          <a:p>
            <a:pPr lvl="0" algn="l"/>
            <a:r>
              <a:rPr lang="en-US" sz="4400" dirty="0">
                <a:solidFill>
                  <a:schemeClr val="tx2"/>
                </a:solidFill>
              </a:rPr>
              <a:t>Model performance and PCA of Workload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0693" y="3464718"/>
            <a:ext cx="2960084" cy="778668"/>
          </a:xfrm>
        </p:spPr>
        <p:txBody>
          <a:bodyPr>
            <a:normAutofit/>
          </a:bodyPr>
          <a:lstStyle/>
          <a:p>
            <a:pPr marL="0" lvl="0" indent="0" algn="r">
              <a:lnSpc>
                <a:spcPct val="90000"/>
              </a:lnSpc>
              <a:buNone/>
            </a:pPr>
            <a:br>
              <a:rPr lang="en-US" sz="1500"/>
            </a:br>
            <a:br>
              <a:rPr lang="en-US" sz="1500"/>
            </a:br>
            <a:endParaRPr lang="en-US" sz="15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8374"/>
            <a:ext cx="7879842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10162" y="1761629"/>
            <a:ext cx="41148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8C957-C3BB-0787-BB3C-CAD1A269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272309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150D3-0434-BBAB-65D9-54B9BF6A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775" y="171038"/>
            <a:ext cx="5261624" cy="9264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Mental workload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E3DC18-B9B3-6F97-B03D-A7D87D1DC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147991"/>
              </p:ext>
            </p:extLst>
          </p:nvPr>
        </p:nvGraphicFramePr>
        <p:xfrm>
          <a:off x="571350" y="1937024"/>
          <a:ext cx="8001005" cy="2572228"/>
        </p:xfrm>
        <a:graphic>
          <a:graphicData uri="http://schemas.openxmlformats.org/drawingml/2006/table">
            <a:tbl>
              <a:tblPr firstRow="1" firstCol="1" bandRow="1"/>
              <a:tblGrid>
                <a:gridCol w="2518183">
                  <a:extLst>
                    <a:ext uri="{9D8B030D-6E8A-4147-A177-3AD203B41FA5}">
                      <a16:colId xmlns:a16="http://schemas.microsoft.com/office/drawing/2014/main" val="4225413189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2347576053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4224353151"/>
                    </a:ext>
                  </a:extLst>
                </a:gridCol>
              </a:tblGrid>
              <a:tr h="463690">
                <a:tc gridSpan="3">
                  <a:txBody>
                    <a:bodyPr/>
                    <a:lstStyle/>
                    <a:p>
                      <a:pPr marL="0" marR="0" algn="ct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Hospitalist mental workload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322" marR="125322" marT="62661" marB="626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76118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(95% CI)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712481"/>
                  </a:ext>
                </a:extLst>
              </a:tr>
              <a:tr h="351423">
                <a:tc rowSpan="4"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3-class (1)/(2,3,4,5,6)/(7)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322" marR="125322" marT="62661" marB="626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Multinomial Logistic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0.88 (0.86, 0.88)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319685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 (0.86, 0.89)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452956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0.88 (0.86, 0.90)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607753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 (0.85, 0.88)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638398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0.86 (0.81, 0.87)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02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2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A2162-4642-AEAC-9063-603AB089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Background">
            <a:extLst>
              <a:ext uri="{FF2B5EF4-FFF2-40B4-BE49-F238E27FC236}">
                <a16:creationId xmlns:a16="http://schemas.microsoft.com/office/drawing/2014/main" id="{C29E7E6A-CD4A-E72F-DEE9-3A30FEFAF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44A3109-9C8B-2D8E-2B09-52C5FEFEA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272309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9B5292-E336-C562-06F3-8F74ECFF59A9}"/>
              </a:ext>
            </a:extLst>
          </p:cNvPr>
          <p:cNvGraphicFramePr>
            <a:graphicFrameLocks noGrp="1"/>
          </p:cNvGraphicFramePr>
          <p:nvPr/>
        </p:nvGraphicFramePr>
        <p:xfrm>
          <a:off x="571350" y="1937024"/>
          <a:ext cx="8001005" cy="2572228"/>
        </p:xfrm>
        <a:graphic>
          <a:graphicData uri="http://schemas.openxmlformats.org/drawingml/2006/table">
            <a:tbl>
              <a:tblPr firstRow="1" firstCol="1" bandRow="1"/>
              <a:tblGrid>
                <a:gridCol w="2518183">
                  <a:extLst>
                    <a:ext uri="{9D8B030D-6E8A-4147-A177-3AD203B41FA5}">
                      <a16:colId xmlns:a16="http://schemas.microsoft.com/office/drawing/2014/main" val="2795511020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3882515979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2897384604"/>
                    </a:ext>
                  </a:extLst>
                </a:gridCol>
              </a:tblGrid>
              <a:tr h="463690">
                <a:tc gridSpan="3">
                  <a:txBody>
                    <a:bodyPr/>
                    <a:lstStyle/>
                    <a:p>
                      <a:pPr marL="0" marR="0" algn="ct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Hospitalist Effort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322" marR="125322" marT="62661" marB="626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89181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(95% CI)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299704"/>
                  </a:ext>
                </a:extLst>
              </a:tr>
              <a:tr h="351423">
                <a:tc rowSpan="4"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3-class (1)/(2,3,4,5,6)/(7)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322" marR="125322" marT="62661" marB="6266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Multinomial Logistic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0.90 (0.88, 0.91)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678279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0.90 (0.89, 0.91)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12286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0.89 (0.86, 0.90)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44873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 (0.86, 0.89)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29169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991" marR="93991" marT="1305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420585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DFF580C8-F370-DA68-0AC7-9916877DCA13}"/>
              </a:ext>
            </a:extLst>
          </p:cNvPr>
          <p:cNvSpPr txBox="1">
            <a:spLocks/>
          </p:cNvSpPr>
          <p:nvPr/>
        </p:nvSpPr>
        <p:spPr>
          <a:xfrm>
            <a:off x="1846425" y="146133"/>
            <a:ext cx="5261624" cy="926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>
              <a:lnSpc>
                <a:spcPct val="115000"/>
              </a:lnSpc>
              <a:spcAft>
                <a:spcPts val="800"/>
              </a:spcAft>
            </a:pPr>
            <a:r>
              <a:rPr lang="en-US" sz="27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Hospitalist Effort</a:t>
            </a:r>
            <a:endParaRPr lang="en-US" sz="2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79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272309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C6AB5C5-E6A3-1255-0744-6830ABDD713C}"/>
              </a:ext>
            </a:extLst>
          </p:cNvPr>
          <p:cNvSpPr txBox="1">
            <a:spLocks/>
          </p:cNvSpPr>
          <p:nvPr/>
        </p:nvSpPr>
        <p:spPr>
          <a:xfrm>
            <a:off x="3218026" y="172944"/>
            <a:ext cx="5261624" cy="926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fontAlgn="t">
              <a:lnSpc>
                <a:spcPct val="90000"/>
              </a:lnSpc>
              <a:spcAft>
                <a:spcPts val="800"/>
              </a:spcAft>
            </a:pPr>
            <a:r>
              <a:rPr lang="en-US" sz="2700" dirty="0"/>
              <a:t>P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hysical workload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9BBCFA-5EEF-B4FF-6647-4C6E04122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637316"/>
              </p:ext>
            </p:extLst>
          </p:nvPr>
        </p:nvGraphicFramePr>
        <p:xfrm>
          <a:off x="571350" y="2011843"/>
          <a:ext cx="8001005" cy="2356450"/>
        </p:xfrm>
        <a:graphic>
          <a:graphicData uri="http://schemas.openxmlformats.org/drawingml/2006/table">
            <a:tbl>
              <a:tblPr firstRow="1" firstCol="1" bandRow="1"/>
              <a:tblGrid>
                <a:gridCol w="2518183">
                  <a:extLst>
                    <a:ext uri="{9D8B030D-6E8A-4147-A177-3AD203B41FA5}">
                      <a16:colId xmlns:a16="http://schemas.microsoft.com/office/drawing/2014/main" val="2795511020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3882515979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2897384604"/>
                    </a:ext>
                  </a:extLst>
                </a:gridCol>
              </a:tblGrid>
              <a:tr h="442314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Hospitalist physical workload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89181"/>
                  </a:ext>
                </a:extLst>
              </a:tr>
              <a:tr h="3300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(95% CI)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299704"/>
                  </a:ext>
                </a:extLst>
              </a:tr>
              <a:tr h="330046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3-class (1,2,3,4,5)/(6)/(7)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Multinomial Logistic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0.96 (0.95, 0.97)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678279"/>
                  </a:ext>
                </a:extLst>
              </a:tr>
              <a:tr h="3300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 (0.96, 0.97)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1228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0.96 (0.95, 0.98)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448730"/>
                  </a:ext>
                </a:extLst>
              </a:tr>
              <a:tr h="3300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0.96 (0.95, 0.97)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29169"/>
                  </a:ext>
                </a:extLst>
              </a:tr>
              <a:tr h="3300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 (0.96, 0.98)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4205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9127D-0AA5-AC6F-58C8-374A235E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Background">
            <a:extLst>
              <a:ext uri="{FF2B5EF4-FFF2-40B4-BE49-F238E27FC236}">
                <a16:creationId xmlns:a16="http://schemas.microsoft.com/office/drawing/2014/main" id="{EBE5F541-BAE8-E703-59A8-0987967A9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4509CA5-299E-6271-4156-25776E7D3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272309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FE9362-2E5D-B601-E437-51443F917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876605"/>
              </p:ext>
            </p:extLst>
          </p:nvPr>
        </p:nvGraphicFramePr>
        <p:xfrm>
          <a:off x="571350" y="1937024"/>
          <a:ext cx="8001005" cy="2572228"/>
        </p:xfrm>
        <a:graphic>
          <a:graphicData uri="http://schemas.openxmlformats.org/drawingml/2006/table">
            <a:tbl>
              <a:tblPr firstRow="1" firstCol="1" bandRow="1"/>
              <a:tblGrid>
                <a:gridCol w="2518183">
                  <a:extLst>
                    <a:ext uri="{9D8B030D-6E8A-4147-A177-3AD203B41FA5}">
                      <a16:colId xmlns:a16="http://schemas.microsoft.com/office/drawing/2014/main" val="2795511020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3882515979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2897384604"/>
                    </a:ext>
                  </a:extLst>
                </a:gridCol>
              </a:tblGrid>
              <a:tr h="46369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Hospitalist temporal workload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89181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(95% CI)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299704"/>
                  </a:ext>
                </a:extLst>
              </a:tr>
              <a:tr h="351423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3-class (1,2,3,4,5)/(6)/(7)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Multinomial Logistic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 (0.95, 0.97)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678279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 (0.96, 0.98)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12286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 (0.95, 0.98)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44873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 (0.95, 0.97)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29169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 (0.96, 0.98)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420585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5D70AEE7-4F0C-A478-96FE-D687466C5DFA}"/>
              </a:ext>
            </a:extLst>
          </p:cNvPr>
          <p:cNvSpPr txBox="1">
            <a:spLocks/>
          </p:cNvSpPr>
          <p:nvPr/>
        </p:nvSpPr>
        <p:spPr>
          <a:xfrm>
            <a:off x="1846425" y="146133"/>
            <a:ext cx="5261624" cy="926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>
              <a:lnSpc>
                <a:spcPct val="115000"/>
              </a:lnSpc>
              <a:spcAft>
                <a:spcPts val="800"/>
              </a:spcAft>
            </a:pPr>
            <a:r>
              <a:rPr lang="en-US" sz="27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Temporal workload</a:t>
            </a:r>
            <a:endParaRPr lang="en-US" sz="2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69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6B6A1-9790-22FE-6569-F42E8449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Background">
            <a:extLst>
              <a:ext uri="{FF2B5EF4-FFF2-40B4-BE49-F238E27FC236}">
                <a16:creationId xmlns:a16="http://schemas.microsoft.com/office/drawing/2014/main" id="{CD9C25CA-6DA9-56B6-1BF0-406357545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30D20A0-0033-D1A7-E55F-5658C07D0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272309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5B40056-5AE4-90B2-B5E3-507991625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602140"/>
              </p:ext>
            </p:extLst>
          </p:nvPr>
        </p:nvGraphicFramePr>
        <p:xfrm>
          <a:off x="571350" y="1937024"/>
          <a:ext cx="8001005" cy="2572228"/>
        </p:xfrm>
        <a:graphic>
          <a:graphicData uri="http://schemas.openxmlformats.org/drawingml/2006/table">
            <a:tbl>
              <a:tblPr firstRow="1" firstCol="1" bandRow="1"/>
              <a:tblGrid>
                <a:gridCol w="2518183">
                  <a:extLst>
                    <a:ext uri="{9D8B030D-6E8A-4147-A177-3AD203B41FA5}">
                      <a16:colId xmlns:a16="http://schemas.microsoft.com/office/drawing/2014/main" val="2795511020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3882515979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2897384604"/>
                    </a:ext>
                  </a:extLst>
                </a:gridCol>
              </a:tblGrid>
              <a:tr h="46369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Hospitalist frustration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89181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(95% CI)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299704"/>
                  </a:ext>
                </a:extLst>
              </a:tr>
              <a:tr h="351423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3-class (1,2,3,4,5)/(6)/(7)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Multinomial Logistic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0.96 (0.95, 0.97)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678279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0.96 (0.95, 0.97)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12286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 (0.95, 0.97)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44873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0.96 (0.95, 0.97)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29169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420585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D38B925-98BE-6181-459D-10F5EBC6051A}"/>
              </a:ext>
            </a:extLst>
          </p:cNvPr>
          <p:cNvSpPr txBox="1">
            <a:spLocks/>
          </p:cNvSpPr>
          <p:nvPr/>
        </p:nvSpPr>
        <p:spPr>
          <a:xfrm>
            <a:off x="1846425" y="146133"/>
            <a:ext cx="5261624" cy="926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>
              <a:lnSpc>
                <a:spcPct val="115000"/>
              </a:lnSpc>
              <a:spcAft>
                <a:spcPts val="800"/>
              </a:spcAft>
            </a:pPr>
            <a:r>
              <a:rPr lang="en-US" sz="27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Frustration</a:t>
            </a:r>
            <a:endParaRPr lang="en-US" sz="2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81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F1041-422D-0D22-FF29-F87B70A2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Background">
            <a:extLst>
              <a:ext uri="{FF2B5EF4-FFF2-40B4-BE49-F238E27FC236}">
                <a16:creationId xmlns:a16="http://schemas.microsoft.com/office/drawing/2014/main" id="{67F75E4E-97E3-D409-A06E-C70C1A09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20BC074-FB5C-ABC4-75F8-8E151D957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272309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F61B97-C39E-6C90-D1FA-8B9D25E80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33056"/>
              </p:ext>
            </p:extLst>
          </p:nvPr>
        </p:nvGraphicFramePr>
        <p:xfrm>
          <a:off x="571350" y="1937024"/>
          <a:ext cx="8001005" cy="2572228"/>
        </p:xfrm>
        <a:graphic>
          <a:graphicData uri="http://schemas.openxmlformats.org/drawingml/2006/table">
            <a:tbl>
              <a:tblPr firstRow="1" firstCol="1" bandRow="1"/>
              <a:tblGrid>
                <a:gridCol w="2518183">
                  <a:extLst>
                    <a:ext uri="{9D8B030D-6E8A-4147-A177-3AD203B41FA5}">
                      <a16:colId xmlns:a16="http://schemas.microsoft.com/office/drawing/2014/main" val="2795511020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3882515979"/>
                    </a:ext>
                  </a:extLst>
                </a:gridCol>
                <a:gridCol w="2741411">
                  <a:extLst>
                    <a:ext uri="{9D8B030D-6E8A-4147-A177-3AD203B41FA5}">
                      <a16:colId xmlns:a16="http://schemas.microsoft.com/office/drawing/2014/main" val="2897384604"/>
                    </a:ext>
                  </a:extLst>
                </a:gridCol>
              </a:tblGrid>
              <a:tr h="46369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Hospitalist performance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389181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Group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 (95% CI)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299704"/>
                  </a:ext>
                </a:extLst>
              </a:tr>
              <a:tr h="351423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3-class (1,2,3,4,5)/(6)/(7)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Multinomial Logistic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0.94 (0.93, 0.95)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678279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0.94 (0.93, 0.95)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12286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0.94 (0.93, 0.96)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448730"/>
                  </a:ext>
                </a:extLst>
              </a:tr>
              <a:tr h="351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0.94 (0.92, 0.95)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29169"/>
                  </a:ext>
                </a:extLst>
              </a:tr>
              <a:tr h="3514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0.94 (0.90. 0.97)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420585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C9528608-EF7B-7E98-E5BB-47A72AC327CC}"/>
              </a:ext>
            </a:extLst>
          </p:cNvPr>
          <p:cNvSpPr txBox="1">
            <a:spLocks/>
          </p:cNvSpPr>
          <p:nvPr/>
        </p:nvSpPr>
        <p:spPr>
          <a:xfrm>
            <a:off x="1846425" y="146133"/>
            <a:ext cx="5261624" cy="926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>
              <a:lnSpc>
                <a:spcPct val="115000"/>
              </a:lnSpc>
              <a:spcAft>
                <a:spcPts val="800"/>
              </a:spcAft>
            </a:pPr>
            <a:r>
              <a:rPr lang="en-US" sz="27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Hospitalist performance</a:t>
            </a:r>
            <a:endParaRPr lang="en-US" sz="2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47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C355A-EBC3-C2ED-A121-86C03F53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882B27-91E9-86CC-7162-B26C7E9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30572F-9D62-61BA-A1CD-9C5F8DA72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DF31671-4D77-9189-0936-AF838D9AF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29412-356A-B589-9525-2D87E876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Why use PCA?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C469C3-3662-5834-BFA3-686B370C0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D1405-D40D-E278-B923-DF71D47ED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8940" y="1196284"/>
            <a:ext cx="4437453" cy="1602777"/>
          </a:xfrm>
        </p:spPr>
        <p:txBody>
          <a:bodyPr anchor="ctr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Multiple workload measures are </a:t>
            </a:r>
            <a:r>
              <a:rPr lang="en-US" sz="1600" b="1" dirty="0">
                <a:solidFill>
                  <a:schemeClr val="tx2"/>
                </a:solidFill>
              </a:rPr>
              <a:t>overlapping and redundant</a:t>
            </a:r>
            <a:endParaRPr lang="en-US" sz="16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PCA reduces them into </a:t>
            </a:r>
            <a:r>
              <a:rPr lang="en-US" sz="1600" b="1" dirty="0">
                <a:solidFill>
                  <a:schemeClr val="tx2"/>
                </a:solidFill>
              </a:rPr>
              <a:t>fewer, clearer factors</a:t>
            </a:r>
            <a:endParaRPr lang="en-US" sz="16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First 3 PCAs explain </a:t>
            </a:r>
            <a:r>
              <a:rPr lang="en-US" sz="1600" b="1" dirty="0">
                <a:solidFill>
                  <a:schemeClr val="tx2"/>
                </a:solidFill>
              </a:rPr>
              <a:t>~81% of differences</a:t>
            </a:r>
            <a:r>
              <a:rPr lang="en-US" sz="1600" dirty="0">
                <a:solidFill>
                  <a:schemeClr val="tx2"/>
                </a:solidFill>
              </a:rPr>
              <a:t> in workload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Helps focus on the </a:t>
            </a:r>
            <a:r>
              <a:rPr lang="en-US" sz="1600" b="1" dirty="0">
                <a:solidFill>
                  <a:schemeClr val="tx2"/>
                </a:solidFill>
              </a:rPr>
              <a:t>big picture patterns</a:t>
            </a:r>
            <a:r>
              <a:rPr lang="en-US" sz="1600" dirty="0">
                <a:solidFill>
                  <a:schemeClr val="tx2"/>
                </a:solidFill>
              </a:rPr>
              <a:t>, not scattered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4898C-ACC1-6331-BBB4-43A0ED1BF1ED}"/>
              </a:ext>
            </a:extLst>
          </p:cNvPr>
          <p:cNvSpPr txBox="1"/>
          <p:nvPr/>
        </p:nvSpPr>
        <p:spPr>
          <a:xfrm>
            <a:off x="4144506" y="3209915"/>
            <a:ext cx="41063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2"/>
                </a:solidFill>
              </a:rPr>
              <a:t>“PCA is similar as doing a differential diagnosis: instead of treating each symptom separately, we look for the underlying syndrome. PCA finds those syndromes in the workload data — the common factors that explain most of the symptoms.”</a:t>
            </a:r>
          </a:p>
        </p:txBody>
      </p:sp>
    </p:spTree>
    <p:extLst>
      <p:ext uri="{BB962C8B-B14F-4D97-AF65-F5344CB8AC3E}">
        <p14:creationId xmlns:p14="http://schemas.microsoft.com/office/powerpoint/2010/main" val="1968341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56C9B-2B23-5FC6-9EEC-FCAE4D76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7C18C7-19C3-83A8-884C-1EEDE3A5D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0D54D03B-0BEB-27BC-486E-0FCBDF815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D441FB4F-59D9-68B8-ABD1-298D9AD36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E3596-35E7-F7F6-C9A8-B9C8053F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PCA Results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B79545-94CC-FE7B-CE50-C07270454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2973-8FC5-9A03-599E-14461569B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356" y="1075111"/>
            <a:ext cx="4437453" cy="1602777"/>
          </a:xfrm>
        </p:spPr>
        <p:txBody>
          <a:bodyPr anchor="ctr">
            <a:normAutofit/>
          </a:bodyPr>
          <a:lstStyle/>
          <a:p>
            <a:pPr lvl="0"/>
            <a:r>
              <a:rPr lang="en-US" sz="1500" b="1" dirty="0">
                <a:solidFill>
                  <a:schemeClr val="tx2"/>
                </a:solidFill>
              </a:rPr>
              <a:t>Principal Components (PCs)</a:t>
            </a:r>
            <a:r>
              <a:rPr lang="en-US" sz="15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PC1 explains </a:t>
            </a:r>
            <a:r>
              <a:rPr lang="en-US" sz="1500" b="1" dirty="0">
                <a:solidFill>
                  <a:schemeClr val="tx2"/>
                </a:solidFill>
              </a:rPr>
              <a:t>55.5%</a:t>
            </a:r>
            <a:r>
              <a:rPr lang="en-US" sz="1500" dirty="0">
                <a:solidFill>
                  <a:schemeClr val="tx2"/>
                </a:solidFill>
              </a:rPr>
              <a:t> of the variance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PC2 adds </a:t>
            </a:r>
            <a:r>
              <a:rPr lang="en-US" sz="1500" b="1" dirty="0">
                <a:solidFill>
                  <a:schemeClr val="tx2"/>
                </a:solidFill>
              </a:rPr>
              <a:t>14.3%</a:t>
            </a:r>
            <a:r>
              <a:rPr lang="en-US" sz="1500" dirty="0">
                <a:solidFill>
                  <a:schemeClr val="tx2"/>
                </a:solidFill>
              </a:rPr>
              <a:t> (cumulative </a:t>
            </a:r>
            <a:r>
              <a:rPr lang="en-US" sz="1500" b="1" dirty="0">
                <a:solidFill>
                  <a:schemeClr val="tx2"/>
                </a:solidFill>
              </a:rPr>
              <a:t>69.8%</a:t>
            </a:r>
            <a:r>
              <a:rPr lang="en-US" sz="1500" dirty="0">
                <a:solidFill>
                  <a:schemeClr val="tx2"/>
                </a:solidFill>
              </a:rPr>
              <a:t>)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PC3 adds </a:t>
            </a:r>
            <a:r>
              <a:rPr lang="en-US" sz="1500" b="1" dirty="0">
                <a:solidFill>
                  <a:schemeClr val="tx2"/>
                </a:solidFill>
              </a:rPr>
              <a:t>11.6%</a:t>
            </a:r>
            <a:r>
              <a:rPr lang="en-US" sz="1500" dirty="0">
                <a:solidFill>
                  <a:schemeClr val="tx2"/>
                </a:solidFill>
              </a:rPr>
              <a:t> (cumulative </a:t>
            </a:r>
            <a:r>
              <a:rPr lang="en-US" sz="1500" b="1" dirty="0">
                <a:solidFill>
                  <a:schemeClr val="tx2"/>
                </a:solidFill>
              </a:rPr>
              <a:t>81.4%</a:t>
            </a:r>
            <a:r>
              <a:rPr lang="en-US" sz="1500" dirty="0">
                <a:solidFill>
                  <a:schemeClr val="tx2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1922E-AE7F-9D70-A02F-3D7F81276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356" y="3026088"/>
            <a:ext cx="4191363" cy="967824"/>
          </a:xfrm>
          <a:prstGeom prst="rect">
            <a:avLst/>
          </a:prstGeom>
          <a:effectLst>
            <a:glow rad="127000">
              <a:schemeClr val="bg1">
                <a:lumMod val="85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31371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PCA Loadings (Top Contributors)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4952" y="728595"/>
            <a:ext cx="4727099" cy="1275781"/>
          </a:xfrm>
        </p:spPr>
        <p:txBody>
          <a:bodyPr anchor="ctr">
            <a:normAutofit fontScale="85000" lnSpcReduction="10000"/>
          </a:bodyPr>
          <a:lstStyle/>
          <a:p>
            <a:pPr lvl="0"/>
            <a:r>
              <a:rPr lang="en-US" sz="1500" b="1" dirty="0">
                <a:solidFill>
                  <a:schemeClr val="tx2"/>
                </a:solidFill>
              </a:rPr>
              <a:t>Interpretation</a:t>
            </a:r>
            <a:r>
              <a:rPr lang="en-US" sz="15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Workload dimensions cluster into </a:t>
            </a:r>
            <a:r>
              <a:rPr lang="en-US" sz="1500" b="1" dirty="0">
                <a:solidFill>
                  <a:schemeClr val="tx2"/>
                </a:solidFill>
              </a:rPr>
              <a:t>3 main components</a:t>
            </a:r>
            <a:endParaRPr lang="en-US" sz="1500" dirty="0">
              <a:solidFill>
                <a:schemeClr val="tx2"/>
              </a:solidFill>
            </a:endParaRP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PC1 → </a:t>
            </a:r>
            <a:r>
              <a:rPr lang="en-US" sz="1500" b="1" dirty="0">
                <a:solidFill>
                  <a:schemeClr val="tx2"/>
                </a:solidFill>
              </a:rPr>
              <a:t>General workload intensity</a:t>
            </a:r>
            <a:endParaRPr lang="en-US" sz="1500" dirty="0">
              <a:solidFill>
                <a:schemeClr val="tx2"/>
              </a:solidFill>
            </a:endParaRP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PC2 → </a:t>
            </a:r>
            <a:r>
              <a:rPr lang="en-US" sz="1500" b="1" dirty="0">
                <a:solidFill>
                  <a:schemeClr val="tx2"/>
                </a:solidFill>
              </a:rPr>
              <a:t>Performance vs. physical demand trade-off</a:t>
            </a:r>
            <a:endParaRPr lang="en-US" sz="1500" dirty="0">
              <a:solidFill>
                <a:schemeClr val="tx2"/>
              </a:solidFill>
            </a:endParaRP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PC3 → </a:t>
            </a:r>
            <a:r>
              <a:rPr lang="en-US" sz="1500" b="1" dirty="0">
                <a:solidFill>
                  <a:schemeClr val="tx2"/>
                </a:solidFill>
              </a:rPr>
              <a:t>Mental demand vs. performance load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96677-F036-1856-D127-BF659001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940" y="2261222"/>
            <a:ext cx="4587638" cy="2476715"/>
          </a:xfrm>
          <a:prstGeom prst="rect">
            <a:avLst/>
          </a:prstGeom>
          <a:effectLst>
            <a:glow rad="127000">
              <a:schemeClr val="bg1">
                <a:lumMod val="85000"/>
              </a:schemeClr>
            </a:glo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76B733-DDA6-CBC3-27F4-C6ED1F6BFC88}"/>
                  </a:ext>
                </a:extLst>
              </p14:cNvPr>
              <p14:cNvContentPartPr/>
              <p14:nvPr/>
            </p14:nvContentPartPr>
            <p14:xfrm>
              <a:off x="5721050" y="3155550"/>
              <a:ext cx="653760" cy="32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76B733-DDA6-CBC3-27F4-C6ED1F6BFC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2410" y="3146550"/>
                <a:ext cx="6714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7A78B04-C18C-8E22-9049-F00C295E81DD}"/>
                  </a:ext>
                </a:extLst>
              </p14:cNvPr>
              <p14:cNvContentPartPr/>
              <p14:nvPr/>
            </p14:nvContentPartPr>
            <p14:xfrm>
              <a:off x="5753090" y="2679630"/>
              <a:ext cx="62244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7A78B04-C18C-8E22-9049-F00C295E81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44090" y="2670630"/>
                <a:ext cx="640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A1BCBE3-10D6-3E91-D7CA-32F917DD323A}"/>
                  </a:ext>
                </a:extLst>
              </p14:cNvPr>
              <p14:cNvContentPartPr/>
              <p14:nvPr/>
            </p14:nvContentPartPr>
            <p14:xfrm>
              <a:off x="6495770" y="2831910"/>
              <a:ext cx="53964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A1BCBE3-10D6-3E91-D7CA-32F917DD32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87130" y="2823270"/>
                <a:ext cx="5572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DF7270B-12FB-A8C9-F326-831CED8E6A9C}"/>
                  </a:ext>
                </a:extLst>
              </p14:cNvPr>
              <p14:cNvContentPartPr/>
              <p14:nvPr/>
            </p14:nvContentPartPr>
            <p14:xfrm>
              <a:off x="6502250" y="3180750"/>
              <a:ext cx="583560" cy="20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DF7270B-12FB-A8C9-F326-831CED8E6A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93250" y="3172110"/>
                <a:ext cx="601200" cy="3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DFB507-A35C-45A4-A4B1-88B692EB6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1407B0-5659-48D2-B8DE-DF83D574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329145"/>
            <a:ext cx="8375586" cy="4314576"/>
          </a:xfrm>
          <a:prstGeom prst="rect">
            <a:avLst/>
          </a:prstGeom>
          <a:ln w="12700">
            <a:solidFill>
              <a:srgbClr val="D5D5D5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22E60-9194-4252-8812-A1355DB6E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3048" y="2040662"/>
            <a:ext cx="111215" cy="89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4B8FBE-7F64-8619-2773-F5515547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97" y="788515"/>
            <a:ext cx="5608806" cy="35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43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90794cc-8ced-4156-9787-a1fbf819c752}" enabled="1" method="Standard" siteId="{a25fff9c-3f63-4fb2-9a8a-d9bdd0321f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514</Words>
  <Application>Microsoft Office PowerPoint</Application>
  <PresentationFormat>On-screen Show (16:9)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Model performance and PCA of Workload variables</vt:lpstr>
      <vt:lpstr>Mental workload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use PCA?  </vt:lpstr>
      <vt:lpstr>PCA Results Summary</vt:lpstr>
      <vt:lpstr>PCA Loadings (Top Contributors)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 result</dc:title>
  <dc:creator/>
  <cp:keywords/>
  <cp:lastModifiedBy>Adnan, Md Mohiuddin, Ph.D.</cp:lastModifiedBy>
  <cp:revision>9</cp:revision>
  <dcterms:created xsi:type="dcterms:W3CDTF">2025-08-26T09:02:59Z</dcterms:created>
  <dcterms:modified xsi:type="dcterms:W3CDTF">2025-08-26T19:25:12Z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